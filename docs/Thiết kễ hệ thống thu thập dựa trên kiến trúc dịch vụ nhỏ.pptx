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1564c2d7aa0af8d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1564c2d7aa0af8d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1564c2d7aa0af8d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1564c2d7aa0af8d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1564c2d7aa0af8d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1564c2d7aa0af8d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1564c2d7aa0af8d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1564c2d7aa0af8d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1564c2d7aa0af8d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1564c2d7aa0af8d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564c2d7aa0af8d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1564c2d7aa0af8d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1564c2d7aa0af8d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1564c2d7aa0af8d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1564c2d7aa0af8d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1564c2d7aa0af8d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1564c2d7aa0af8d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1564c2d7aa0af8d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564c2d7aa0af8d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1564c2d7aa0af8d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1564c2d7aa0af8d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1564c2d7aa0af8d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1564c2d7aa0af8d3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h1564c2d7aa0af8d3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about:blank" TargetMode="External"/><Relationship Id="rId4" Type="http://schemas.openxmlformats.org/officeDocument/2006/relationships/hyperlink" Target="https://hust.edu.vn/tin-tuc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about:blank" TargetMode="External"/><Relationship Id="rId4" Type="http://schemas.openxmlformats.org/officeDocument/2006/relationships/hyperlink" Target="https://hust.edu.vn/tin-tuc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ust.edu.vn/tin-tuc1" TargetMode="External"/><Relationship Id="rId4" Type="http://schemas.openxmlformats.org/officeDocument/2006/relationships/hyperlink" Target="https://hust.edu.vn/tin-tuc1" TargetMode="External"/><Relationship Id="rId5" Type="http://schemas.openxmlformats.org/officeDocument/2006/relationships/hyperlink" Target="https://hust.edu.vn/tin-tuc1" TargetMode="External"/><Relationship Id="rId6" Type="http://schemas.openxmlformats.org/officeDocument/2006/relationships/hyperlink" Target="https://hust.edu.vn/tin-tuc1" TargetMode="External"/><Relationship Id="rId7" Type="http://schemas.openxmlformats.org/officeDocument/2006/relationships/hyperlink" Target="https://hust.edu.vn/tin-tuc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hust.edu.vn/tin-tuc1" TargetMode="External"/><Relationship Id="rId4" Type="http://schemas.openxmlformats.org/officeDocument/2006/relationships/hyperlink" Target="https://hust.edu.vn/tin-tuc1" TargetMode="External"/><Relationship Id="rId5" Type="http://schemas.openxmlformats.org/officeDocument/2006/relationships/hyperlink" Target="https://hust.edu.vn/tin-tuc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about:blank" TargetMode="External"/><Relationship Id="rId4" Type="http://schemas.openxmlformats.org/officeDocument/2006/relationships/hyperlink" Target="https://hust.edu.vn/tin-tuc1" TargetMode="External"/><Relationship Id="rId5" Type="http://schemas.openxmlformats.org/officeDocument/2006/relationships/hyperlink" Target="about:blank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about:bla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863525" y="1100487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Đọc nội dung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84500" y="587179"/>
            <a:ext cx="1203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058775" y="1605804"/>
            <a:ext cx="10026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863525" y="2391879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Điều Khiển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4965025" y="1100487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Tổng hợp dữ liệu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066525" y="1100487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trữ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7066525" y="73787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</a:t>
            </a:r>
            <a:endParaRPr/>
          </a:p>
        </p:txBody>
      </p:sp>
      <p:cxnSp>
        <p:nvCxnSpPr>
          <p:cNvPr id="61" name="Google Shape;61;p13"/>
          <p:cNvCxnSpPr>
            <a:stCxn id="58" idx="3"/>
            <a:endCxn id="59" idx="1"/>
          </p:cNvCxnSpPr>
          <p:nvPr/>
        </p:nvCxnSpPr>
        <p:spPr>
          <a:xfrm>
            <a:off x="6489025" y="1389237"/>
            <a:ext cx="577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>
            <a:stCxn id="59" idx="0"/>
            <a:endCxn id="60" idx="2"/>
          </p:cNvCxnSpPr>
          <p:nvPr/>
        </p:nvCxnSpPr>
        <p:spPr>
          <a:xfrm rot="10800000">
            <a:off x="7828525" y="651387"/>
            <a:ext cx="0" cy="4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>
            <a:endCxn id="57" idx="3"/>
          </p:cNvCxnSpPr>
          <p:nvPr/>
        </p:nvCxnSpPr>
        <p:spPr>
          <a:xfrm flipH="1">
            <a:off x="4387525" y="1397229"/>
            <a:ext cx="2390400" cy="1283400"/>
          </a:xfrm>
          <a:prstGeom prst="bentConnector3">
            <a:avLst>
              <a:gd fmla="val -3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57" idx="1"/>
            <a:endCxn id="56" idx="2"/>
          </p:cNvCxnSpPr>
          <p:nvPr/>
        </p:nvCxnSpPr>
        <p:spPr>
          <a:xfrm rot="10800000">
            <a:off x="1560025" y="2183229"/>
            <a:ext cx="1303500" cy="49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>
            <a:stCxn id="57" idx="1"/>
            <a:endCxn id="55" idx="2"/>
          </p:cNvCxnSpPr>
          <p:nvPr/>
        </p:nvCxnSpPr>
        <p:spPr>
          <a:xfrm rot="10800000">
            <a:off x="786025" y="1164729"/>
            <a:ext cx="2077500" cy="151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>
            <a:stCxn id="55" idx="3"/>
            <a:endCxn id="54" idx="0"/>
          </p:cNvCxnSpPr>
          <p:nvPr/>
        </p:nvCxnSpPr>
        <p:spPr>
          <a:xfrm>
            <a:off x="1387500" y="875929"/>
            <a:ext cx="2238000" cy="2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>
            <a:stCxn id="56" idx="3"/>
            <a:endCxn id="54" idx="1"/>
          </p:cNvCxnSpPr>
          <p:nvPr/>
        </p:nvCxnSpPr>
        <p:spPr>
          <a:xfrm flipH="1" rot="10800000">
            <a:off x="2061375" y="1389354"/>
            <a:ext cx="802200" cy="505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>
            <a:stCxn id="54" idx="3"/>
            <a:endCxn id="58" idx="1"/>
          </p:cNvCxnSpPr>
          <p:nvPr/>
        </p:nvCxnSpPr>
        <p:spPr>
          <a:xfrm>
            <a:off x="4387525" y="1389237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3"/>
          <p:cNvSpPr txBox="1"/>
          <p:nvPr/>
        </p:nvSpPr>
        <p:spPr>
          <a:xfrm>
            <a:off x="3978450" y="731532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1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740675" y="1228707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179075" y="2014782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3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6216425" y="687382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4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7098750" y="1706007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785800" y="390557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6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-31975" y="2949175"/>
            <a:ext cx="65691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Khởi động - các mô-đun ở trạng thái chờ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Tổng hợp dữ liệu nạp tập url mầm ban đầu.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Mô đun điều khiển gửi url cần thu thập đến Tải về.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Tải về gửi dữ liệu tải được sang đọc nội dung.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Đọc nội dung gửi kết quả bóc tách sang tổng hợp dữ liệu.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Tổng hợp dữ liệu gửi các bản ghi sang lưu trữ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Tổng hợp dữ liệu gửi các url mới sang điều khiển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84475" y="1600"/>
            <a:ext cx="584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Các mô-đun giao tiếp bằng http và sử dụng JSON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6521125" y="2849075"/>
            <a:ext cx="25266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Đọc nội dung - N1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Tải về  - N5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Điều khiển - BAT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Tổng hợp - N8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Lưu trữ - N10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Mongo - Ctrl + 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759250" y="2083100"/>
            <a:ext cx="1139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5200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922275" y="1282850"/>
            <a:ext cx="1139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8800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759250" y="807799"/>
            <a:ext cx="1139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6600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4912875" y="813712"/>
            <a:ext cx="1139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3300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7014400" y="773675"/>
            <a:ext cx="1139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2200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6176141" y="19504"/>
            <a:ext cx="1139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truy cập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2863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Đọc nội dung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184500" y="523011"/>
            <a:ext cx="1203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058775" y="1541636"/>
            <a:ext cx="10026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2863525" y="2327711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Điều Khiển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49650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Tổng hợp dữ liệu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066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trữ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066525" y="96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</a:t>
            </a:r>
            <a:endParaRPr/>
          </a:p>
        </p:txBody>
      </p:sp>
      <p:cxnSp>
        <p:nvCxnSpPr>
          <p:cNvPr id="95" name="Google Shape;95;p14"/>
          <p:cNvCxnSpPr>
            <a:stCxn id="92" idx="3"/>
            <a:endCxn id="93" idx="1"/>
          </p:cNvCxnSpPr>
          <p:nvPr/>
        </p:nvCxnSpPr>
        <p:spPr>
          <a:xfrm>
            <a:off x="6489025" y="1325068"/>
            <a:ext cx="577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4"/>
          <p:cNvCxnSpPr>
            <a:stCxn id="93" idx="0"/>
            <a:endCxn id="94" idx="2"/>
          </p:cNvCxnSpPr>
          <p:nvPr/>
        </p:nvCxnSpPr>
        <p:spPr>
          <a:xfrm rot="10800000">
            <a:off x="7828525" y="587218"/>
            <a:ext cx="0" cy="4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4"/>
          <p:cNvCxnSpPr>
            <a:endCxn id="91" idx="3"/>
          </p:cNvCxnSpPr>
          <p:nvPr/>
        </p:nvCxnSpPr>
        <p:spPr>
          <a:xfrm flipH="1">
            <a:off x="4387525" y="1333061"/>
            <a:ext cx="2390400" cy="1283400"/>
          </a:xfrm>
          <a:prstGeom prst="bentConnector3">
            <a:avLst>
              <a:gd fmla="val -3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4"/>
          <p:cNvCxnSpPr>
            <a:stCxn id="91" idx="1"/>
            <a:endCxn id="90" idx="2"/>
          </p:cNvCxnSpPr>
          <p:nvPr/>
        </p:nvCxnSpPr>
        <p:spPr>
          <a:xfrm rot="10800000">
            <a:off x="1560025" y="2119061"/>
            <a:ext cx="1303500" cy="49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4"/>
          <p:cNvCxnSpPr>
            <a:stCxn id="91" idx="1"/>
            <a:endCxn id="89" idx="2"/>
          </p:cNvCxnSpPr>
          <p:nvPr/>
        </p:nvCxnSpPr>
        <p:spPr>
          <a:xfrm rot="10800000">
            <a:off x="786025" y="1100561"/>
            <a:ext cx="2077500" cy="151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4"/>
          <p:cNvCxnSpPr>
            <a:stCxn id="89" idx="3"/>
            <a:endCxn id="88" idx="0"/>
          </p:cNvCxnSpPr>
          <p:nvPr/>
        </p:nvCxnSpPr>
        <p:spPr>
          <a:xfrm>
            <a:off x="1387500" y="811761"/>
            <a:ext cx="2238000" cy="2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4"/>
          <p:cNvCxnSpPr>
            <a:stCxn id="90" idx="3"/>
            <a:endCxn id="88" idx="1"/>
          </p:cNvCxnSpPr>
          <p:nvPr/>
        </p:nvCxnSpPr>
        <p:spPr>
          <a:xfrm flipH="1" rot="10800000">
            <a:off x="2061375" y="1325186"/>
            <a:ext cx="802200" cy="505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4"/>
          <p:cNvCxnSpPr>
            <a:stCxn id="88" idx="3"/>
            <a:endCxn id="92" idx="1"/>
          </p:cNvCxnSpPr>
          <p:nvPr/>
        </p:nvCxnSpPr>
        <p:spPr>
          <a:xfrm>
            <a:off x="4387525" y="1325068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4"/>
          <p:cNvSpPr txBox="1"/>
          <p:nvPr/>
        </p:nvSpPr>
        <p:spPr>
          <a:xfrm>
            <a:off x="3978450" y="66736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1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740675" y="11645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179075" y="19506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3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216425" y="6232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4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098750" y="16418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785800" y="32638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6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-31975" y="2480100"/>
            <a:ext cx="6400800" cy="28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Đọc nội dung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Đầu vào: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định dạng tài liệu: html, other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nội dung: tài liệu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uri: địa chỉ truy cập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Đầu ra: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i="1" lang="en-GB" sz="1800">
                <a:solidFill>
                  <a:schemeClr val="dk2"/>
                </a:solidFill>
              </a:rPr>
              <a:t>Đối với html: tiêu đề, nội dung văn bản, liên kết đi ra cùng với văn bản liên kết (câu hoàn thiện chứa thẻ a).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i="1" lang="en-GB" sz="1800">
                <a:solidFill>
                  <a:schemeClr val="dk2"/>
                </a:solidFill>
              </a:rPr>
              <a:t>Đối với other: Nội dung văn bản tách được </a:t>
            </a:r>
            <a:endParaRPr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⇒ gọi API đẩy kết quả sang mô-đun tổng hợp</a:t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2863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Đọc nội dung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84500" y="523011"/>
            <a:ext cx="1203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058775" y="1541636"/>
            <a:ext cx="10026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863525" y="2327711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Điều Khiển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9650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Tổng hợp dữ liệu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066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trữ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066525" y="96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</a:t>
            </a:r>
            <a:endParaRPr/>
          </a:p>
        </p:txBody>
      </p:sp>
      <p:cxnSp>
        <p:nvCxnSpPr>
          <p:cNvPr id="121" name="Google Shape;121;p15"/>
          <p:cNvCxnSpPr>
            <a:stCxn id="118" idx="3"/>
            <a:endCxn id="119" idx="1"/>
          </p:cNvCxnSpPr>
          <p:nvPr/>
        </p:nvCxnSpPr>
        <p:spPr>
          <a:xfrm>
            <a:off x="6489025" y="1325068"/>
            <a:ext cx="577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5"/>
          <p:cNvCxnSpPr>
            <a:stCxn id="119" idx="0"/>
            <a:endCxn id="120" idx="2"/>
          </p:cNvCxnSpPr>
          <p:nvPr/>
        </p:nvCxnSpPr>
        <p:spPr>
          <a:xfrm rot="10800000">
            <a:off x="7828525" y="587218"/>
            <a:ext cx="0" cy="4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5"/>
          <p:cNvCxnSpPr>
            <a:endCxn id="117" idx="3"/>
          </p:cNvCxnSpPr>
          <p:nvPr/>
        </p:nvCxnSpPr>
        <p:spPr>
          <a:xfrm flipH="1">
            <a:off x="4387525" y="1333061"/>
            <a:ext cx="2390400" cy="1283400"/>
          </a:xfrm>
          <a:prstGeom prst="bentConnector3">
            <a:avLst>
              <a:gd fmla="val -3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5"/>
          <p:cNvCxnSpPr>
            <a:stCxn id="117" idx="1"/>
            <a:endCxn id="116" idx="2"/>
          </p:cNvCxnSpPr>
          <p:nvPr/>
        </p:nvCxnSpPr>
        <p:spPr>
          <a:xfrm rot="10800000">
            <a:off x="1560025" y="2119061"/>
            <a:ext cx="1303500" cy="49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5"/>
          <p:cNvCxnSpPr>
            <a:stCxn id="117" idx="1"/>
            <a:endCxn id="115" idx="2"/>
          </p:cNvCxnSpPr>
          <p:nvPr/>
        </p:nvCxnSpPr>
        <p:spPr>
          <a:xfrm rot="10800000">
            <a:off x="786025" y="1100561"/>
            <a:ext cx="2077500" cy="151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5"/>
          <p:cNvCxnSpPr>
            <a:stCxn id="115" idx="3"/>
            <a:endCxn id="114" idx="0"/>
          </p:cNvCxnSpPr>
          <p:nvPr/>
        </p:nvCxnSpPr>
        <p:spPr>
          <a:xfrm>
            <a:off x="1387500" y="811761"/>
            <a:ext cx="2238000" cy="2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5"/>
          <p:cNvCxnSpPr>
            <a:stCxn id="116" idx="3"/>
            <a:endCxn id="114" idx="1"/>
          </p:cNvCxnSpPr>
          <p:nvPr/>
        </p:nvCxnSpPr>
        <p:spPr>
          <a:xfrm flipH="1" rot="10800000">
            <a:off x="2061375" y="1325186"/>
            <a:ext cx="802200" cy="505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5"/>
          <p:cNvCxnSpPr>
            <a:stCxn id="114" idx="3"/>
            <a:endCxn id="118" idx="1"/>
          </p:cNvCxnSpPr>
          <p:nvPr/>
        </p:nvCxnSpPr>
        <p:spPr>
          <a:xfrm>
            <a:off x="4387525" y="1325068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5"/>
          <p:cNvSpPr txBox="1"/>
          <p:nvPr/>
        </p:nvSpPr>
        <p:spPr>
          <a:xfrm>
            <a:off x="3978450" y="66736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1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740675" y="11645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4179075" y="19506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3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216425" y="6232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4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098750" y="16418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785800" y="32638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6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-31975" y="2480100"/>
            <a:ext cx="6400800" cy="28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Tải về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Đầu vào: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ur</a:t>
            </a:r>
            <a:r>
              <a:rPr lang="en-GB" sz="1800">
                <a:solidFill>
                  <a:schemeClr val="dk2"/>
                </a:solidFill>
              </a:rPr>
              <a:t>l</a:t>
            </a:r>
            <a:r>
              <a:rPr lang="en-GB" sz="1800">
                <a:solidFill>
                  <a:schemeClr val="dk2"/>
                </a:solidFill>
              </a:rPr>
              <a:t>: địa chỉ truy cập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Xử lý</a:t>
            </a:r>
            <a:r>
              <a:rPr i="1" lang="en-GB" sz="1800">
                <a:solidFill>
                  <a:schemeClr val="dk2"/>
                </a:solidFill>
              </a:rPr>
              <a:t>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Pupperteer + Chrome (headless) tải về nội dung đối với trang Web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Tải tài liệu về đối với tài liệu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Đầu ra: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i="1" lang="en-GB" sz="1800">
                <a:solidFill>
                  <a:schemeClr val="dk2"/>
                </a:solidFill>
              </a:rPr>
              <a:t>Gửi đến Mô-đun đọc</a:t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2863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Đọc nội dung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184500" y="523011"/>
            <a:ext cx="1203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1058775" y="1541636"/>
            <a:ext cx="10026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2863525" y="2327711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Điều Khiển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9650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Tổng hợp dữ liệu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7066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trữ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7066525" y="96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</a:t>
            </a:r>
            <a:endParaRPr/>
          </a:p>
        </p:txBody>
      </p:sp>
      <p:cxnSp>
        <p:nvCxnSpPr>
          <p:cNvPr id="147" name="Google Shape;147;p16"/>
          <p:cNvCxnSpPr>
            <a:stCxn id="144" idx="3"/>
            <a:endCxn id="145" idx="1"/>
          </p:cNvCxnSpPr>
          <p:nvPr/>
        </p:nvCxnSpPr>
        <p:spPr>
          <a:xfrm>
            <a:off x="6489025" y="1325068"/>
            <a:ext cx="577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6"/>
          <p:cNvCxnSpPr>
            <a:stCxn id="145" idx="0"/>
            <a:endCxn id="146" idx="2"/>
          </p:cNvCxnSpPr>
          <p:nvPr/>
        </p:nvCxnSpPr>
        <p:spPr>
          <a:xfrm rot="10800000">
            <a:off x="7828525" y="587218"/>
            <a:ext cx="0" cy="4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6"/>
          <p:cNvCxnSpPr>
            <a:endCxn id="143" idx="3"/>
          </p:cNvCxnSpPr>
          <p:nvPr/>
        </p:nvCxnSpPr>
        <p:spPr>
          <a:xfrm flipH="1">
            <a:off x="4387525" y="1333061"/>
            <a:ext cx="2390400" cy="1283400"/>
          </a:xfrm>
          <a:prstGeom prst="bentConnector3">
            <a:avLst>
              <a:gd fmla="val -3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6"/>
          <p:cNvCxnSpPr>
            <a:stCxn id="143" idx="1"/>
            <a:endCxn id="142" idx="2"/>
          </p:cNvCxnSpPr>
          <p:nvPr/>
        </p:nvCxnSpPr>
        <p:spPr>
          <a:xfrm rot="10800000">
            <a:off x="1560025" y="2119061"/>
            <a:ext cx="1303500" cy="49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6"/>
          <p:cNvCxnSpPr>
            <a:stCxn id="143" idx="1"/>
            <a:endCxn id="141" idx="2"/>
          </p:cNvCxnSpPr>
          <p:nvPr/>
        </p:nvCxnSpPr>
        <p:spPr>
          <a:xfrm rot="10800000">
            <a:off x="786025" y="1100561"/>
            <a:ext cx="2077500" cy="151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6"/>
          <p:cNvCxnSpPr>
            <a:stCxn id="141" idx="3"/>
            <a:endCxn id="140" idx="0"/>
          </p:cNvCxnSpPr>
          <p:nvPr/>
        </p:nvCxnSpPr>
        <p:spPr>
          <a:xfrm>
            <a:off x="1387500" y="811761"/>
            <a:ext cx="2238000" cy="2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6"/>
          <p:cNvCxnSpPr>
            <a:stCxn id="142" idx="3"/>
            <a:endCxn id="140" idx="1"/>
          </p:cNvCxnSpPr>
          <p:nvPr/>
        </p:nvCxnSpPr>
        <p:spPr>
          <a:xfrm flipH="1" rot="10800000">
            <a:off x="2061375" y="1325186"/>
            <a:ext cx="802200" cy="505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6"/>
          <p:cNvCxnSpPr>
            <a:stCxn id="140" idx="3"/>
            <a:endCxn id="144" idx="1"/>
          </p:cNvCxnSpPr>
          <p:nvPr/>
        </p:nvCxnSpPr>
        <p:spPr>
          <a:xfrm>
            <a:off x="4387525" y="1325068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6"/>
          <p:cNvSpPr txBox="1"/>
          <p:nvPr/>
        </p:nvSpPr>
        <p:spPr>
          <a:xfrm>
            <a:off x="3978450" y="66736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1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740675" y="11645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4179075" y="19506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3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6216425" y="6232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4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7098750" y="16418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6785800" y="32638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6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-31975" y="2480100"/>
            <a:ext cx="6400800" cy="28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Điều khiển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Đầu vào: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gói url cần thu thập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Xử lý: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Thiết lập thời gian chờ và lập lịch gửi đến các mô-đun tải về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Cân bằng tải - lô-gic xoay vòng.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2863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Đọc nội dung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184500" y="523011"/>
            <a:ext cx="1203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058775" y="1541636"/>
            <a:ext cx="10026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2863525" y="2327711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Điều Khiển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9650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Tổng hợp dữ liệu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7066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trữ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066525" y="96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</a:t>
            </a:r>
            <a:endParaRPr/>
          </a:p>
        </p:txBody>
      </p:sp>
      <p:cxnSp>
        <p:nvCxnSpPr>
          <p:cNvPr id="173" name="Google Shape;173;p17"/>
          <p:cNvCxnSpPr>
            <a:stCxn id="170" idx="3"/>
            <a:endCxn id="171" idx="1"/>
          </p:cNvCxnSpPr>
          <p:nvPr/>
        </p:nvCxnSpPr>
        <p:spPr>
          <a:xfrm>
            <a:off x="6489025" y="1325068"/>
            <a:ext cx="577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7"/>
          <p:cNvCxnSpPr>
            <a:stCxn id="171" idx="0"/>
            <a:endCxn id="172" idx="2"/>
          </p:cNvCxnSpPr>
          <p:nvPr/>
        </p:nvCxnSpPr>
        <p:spPr>
          <a:xfrm rot="10800000">
            <a:off x="7828525" y="587218"/>
            <a:ext cx="0" cy="4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endCxn id="169" idx="3"/>
          </p:cNvCxnSpPr>
          <p:nvPr/>
        </p:nvCxnSpPr>
        <p:spPr>
          <a:xfrm flipH="1">
            <a:off x="4387525" y="1333061"/>
            <a:ext cx="2390400" cy="1283400"/>
          </a:xfrm>
          <a:prstGeom prst="bentConnector3">
            <a:avLst>
              <a:gd fmla="val -3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69" idx="1"/>
            <a:endCxn id="168" idx="2"/>
          </p:cNvCxnSpPr>
          <p:nvPr/>
        </p:nvCxnSpPr>
        <p:spPr>
          <a:xfrm rot="10800000">
            <a:off x="1560025" y="2119061"/>
            <a:ext cx="1303500" cy="49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69" idx="1"/>
            <a:endCxn id="167" idx="2"/>
          </p:cNvCxnSpPr>
          <p:nvPr/>
        </p:nvCxnSpPr>
        <p:spPr>
          <a:xfrm rot="10800000">
            <a:off x="786025" y="1100561"/>
            <a:ext cx="2077500" cy="151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7"/>
          <p:cNvCxnSpPr>
            <a:stCxn id="167" idx="3"/>
            <a:endCxn id="166" idx="0"/>
          </p:cNvCxnSpPr>
          <p:nvPr/>
        </p:nvCxnSpPr>
        <p:spPr>
          <a:xfrm>
            <a:off x="1387500" y="811761"/>
            <a:ext cx="2238000" cy="2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7"/>
          <p:cNvCxnSpPr>
            <a:stCxn id="168" idx="3"/>
            <a:endCxn id="166" idx="1"/>
          </p:cNvCxnSpPr>
          <p:nvPr/>
        </p:nvCxnSpPr>
        <p:spPr>
          <a:xfrm flipH="1" rot="10800000">
            <a:off x="2061375" y="1325186"/>
            <a:ext cx="802200" cy="505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66" idx="3"/>
            <a:endCxn id="170" idx="1"/>
          </p:cNvCxnSpPr>
          <p:nvPr/>
        </p:nvCxnSpPr>
        <p:spPr>
          <a:xfrm>
            <a:off x="4387525" y="1325068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7"/>
          <p:cNvSpPr txBox="1"/>
          <p:nvPr/>
        </p:nvSpPr>
        <p:spPr>
          <a:xfrm>
            <a:off x="3978450" y="66736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1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1740675" y="11645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4179075" y="19506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3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6216425" y="6232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4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7098750" y="16418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785800" y="32638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6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-31975" y="2480100"/>
            <a:ext cx="6400800" cy="28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Tổng hợp dữ liệu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Đầu vào: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uri: địa chỉ truy cập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định dạng: other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các trường nội dung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Xử lý: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Lọc url - lấy trong miền hust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Loại url đã có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Đầu ra: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i="1" lang="en-GB" sz="1800">
                <a:solidFill>
                  <a:schemeClr val="dk2"/>
                </a:solidFill>
              </a:rPr>
              <a:t>Gửi đến lưu trữ</a:t>
            </a:r>
            <a:endParaRPr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i="1" lang="en-GB" sz="1800">
                <a:solidFill>
                  <a:schemeClr val="dk2"/>
                </a:solidFill>
              </a:rPr>
              <a:t>Gửi url mới cho điều khiển</a:t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2863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Đọc nội dung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184500" y="523011"/>
            <a:ext cx="1203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1058775" y="1541636"/>
            <a:ext cx="10026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2863525" y="2327711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Điều Khiển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49650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Tổng hợp dữ liệu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7066525" y="10363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trữ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7066525" y="9618"/>
            <a:ext cx="1524000" cy="57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</a:t>
            </a:r>
            <a:endParaRPr/>
          </a:p>
        </p:txBody>
      </p:sp>
      <p:cxnSp>
        <p:nvCxnSpPr>
          <p:cNvPr id="199" name="Google Shape;199;p18"/>
          <p:cNvCxnSpPr>
            <a:stCxn id="196" idx="3"/>
            <a:endCxn id="197" idx="1"/>
          </p:cNvCxnSpPr>
          <p:nvPr/>
        </p:nvCxnSpPr>
        <p:spPr>
          <a:xfrm>
            <a:off x="6489025" y="1325068"/>
            <a:ext cx="577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18"/>
          <p:cNvCxnSpPr>
            <a:stCxn id="197" idx="0"/>
            <a:endCxn id="198" idx="2"/>
          </p:cNvCxnSpPr>
          <p:nvPr/>
        </p:nvCxnSpPr>
        <p:spPr>
          <a:xfrm rot="10800000">
            <a:off x="7828525" y="587218"/>
            <a:ext cx="0" cy="4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8"/>
          <p:cNvCxnSpPr>
            <a:endCxn id="195" idx="3"/>
          </p:cNvCxnSpPr>
          <p:nvPr/>
        </p:nvCxnSpPr>
        <p:spPr>
          <a:xfrm flipH="1">
            <a:off x="4387525" y="1333061"/>
            <a:ext cx="2390400" cy="1283400"/>
          </a:xfrm>
          <a:prstGeom prst="bentConnector3">
            <a:avLst>
              <a:gd fmla="val -3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5" idx="1"/>
            <a:endCxn id="194" idx="2"/>
          </p:cNvCxnSpPr>
          <p:nvPr/>
        </p:nvCxnSpPr>
        <p:spPr>
          <a:xfrm rot="10800000">
            <a:off x="1560025" y="2119061"/>
            <a:ext cx="1303500" cy="49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195" idx="1"/>
            <a:endCxn id="193" idx="2"/>
          </p:cNvCxnSpPr>
          <p:nvPr/>
        </p:nvCxnSpPr>
        <p:spPr>
          <a:xfrm rot="10800000">
            <a:off x="786025" y="1100561"/>
            <a:ext cx="2077500" cy="151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8"/>
          <p:cNvCxnSpPr>
            <a:stCxn id="193" idx="3"/>
            <a:endCxn id="192" idx="0"/>
          </p:cNvCxnSpPr>
          <p:nvPr/>
        </p:nvCxnSpPr>
        <p:spPr>
          <a:xfrm>
            <a:off x="1387500" y="811761"/>
            <a:ext cx="2238000" cy="2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194" idx="3"/>
            <a:endCxn id="192" idx="1"/>
          </p:cNvCxnSpPr>
          <p:nvPr/>
        </p:nvCxnSpPr>
        <p:spPr>
          <a:xfrm flipH="1" rot="10800000">
            <a:off x="2061375" y="1325186"/>
            <a:ext cx="802200" cy="505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8"/>
          <p:cNvCxnSpPr>
            <a:stCxn id="192" idx="3"/>
            <a:endCxn id="196" idx="1"/>
          </p:cNvCxnSpPr>
          <p:nvPr/>
        </p:nvCxnSpPr>
        <p:spPr>
          <a:xfrm>
            <a:off x="4387525" y="1325068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8"/>
          <p:cNvSpPr txBox="1"/>
          <p:nvPr/>
        </p:nvSpPr>
        <p:spPr>
          <a:xfrm>
            <a:off x="3978450" y="66736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1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1740675" y="11645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4179075" y="19506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3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6216425" y="623213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4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7098750" y="164183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785800" y="326388"/>
            <a:ext cx="32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6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-31975" y="2792925"/>
            <a:ext cx="7266900" cy="2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Lưu trữ: Tiếp nhận dữ liệu và lưu vào Mongo theo đúng cấu trúc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Mongo: Dựng MongoDB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Đặc tả dịch vụ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0" y="0"/>
            <a:ext cx="9144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Tổng hợp dữ liệu </a:t>
            </a:r>
            <a:r>
              <a:rPr b="1" lang="en-GB" sz="2000"/>
              <a:t>(GIC: N8)</a:t>
            </a:r>
            <a:endParaRPr b="1" sz="2000"/>
          </a:p>
        </p:txBody>
      </p:sp>
      <p:sp>
        <p:nvSpPr>
          <p:cNvPr id="224" name="Google Shape;224;p20"/>
          <p:cNvSpPr txBox="1"/>
          <p:nvPr>
            <p:ph idx="1" type="body"/>
          </p:nvPr>
        </p:nvSpPr>
        <p:spPr>
          <a:xfrm>
            <a:off x="0" y="492600"/>
            <a:ext cx="9144000" cy="4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Giao diện thêm nội dung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post: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http://ip:cổng/add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{</a:t>
            </a:r>
            <a:r>
              <a:rPr lang="en-GB"/>
              <a:t>"url": "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https://hust.edu.vn/tin-tuc1</a:t>
            </a:r>
            <a:r>
              <a:rPr lang="en-GB"/>
              <a:t>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"format": "html"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"title": "Tin tức 1",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"content": "Nội dung tin tức bóc tách được",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"out-links": ["url đi ra", "văn bản liên kết"]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trữ (N10)</a:t>
            </a:r>
            <a:endParaRPr/>
          </a:p>
        </p:txBody>
      </p:sp>
      <p:sp>
        <p:nvSpPr>
          <p:cNvPr id="230" name="Google Shape;230;p21"/>
          <p:cNvSpPr txBox="1"/>
          <p:nvPr>
            <p:ph idx="1" type="body"/>
          </p:nvPr>
        </p:nvSpPr>
        <p:spPr>
          <a:xfrm>
            <a:off x="311700" y="1017725"/>
            <a:ext cx="49101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Giao diện thêm nội dung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post: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http://ip:cổng/add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{</a:t>
            </a:r>
            <a:r>
              <a:rPr lang="en-GB"/>
              <a:t>"url": "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https://hust.edu.vn/tin-tuc1</a:t>
            </a:r>
            <a:r>
              <a:rPr lang="en-GB"/>
              <a:t>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"format": "html"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"title": "Tin tức 1",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"content": "Nội dung tin tức bóc tách được",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"out-links": ["url đi ra", "văn bản liên kết"]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}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454300" y="1017725"/>
            <a:ext cx="32646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</a:rPr>
              <a:t>Thêm  dữ liệu vào Mongo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486400" y="2038950"/>
            <a:ext cx="3200400" cy="26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2	20261093M	Đinh Thuỳ Anh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9	20261087M	Phạm Duy Khánh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11	20251230M	Ngô Văn Tấn Lưu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13	20252093M	Nguyễn Nhật Minh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</a:t>
            </a:r>
            <a:endParaRPr/>
          </a:p>
        </p:txBody>
      </p:sp>
      <p:sp>
        <p:nvSpPr>
          <p:cNvPr id="238" name="Google Shape;238;p22"/>
          <p:cNvSpPr txBox="1"/>
          <p:nvPr>
            <p:ph idx="1" type="body"/>
          </p:nvPr>
        </p:nvSpPr>
        <p:spPr>
          <a:xfrm>
            <a:off x="385000" y="1017725"/>
            <a:ext cx="7170900" cy="55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{</a:t>
            </a:r>
            <a:r>
              <a:rPr lang="en-GB"/>
              <a:t>"</a:t>
            </a:r>
            <a:r>
              <a:rPr lang="en-GB">
                <a:solidFill>
                  <a:schemeClr val="dk1"/>
                </a:solidFill>
              </a:rPr>
              <a:t>html</a:t>
            </a:r>
            <a:r>
              <a:rPr lang="en-GB"/>
              <a:t>":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[{</a:t>
            </a:r>
            <a:r>
              <a:rPr lang="en-GB"/>
              <a:t>"url": "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https://hust.edu.vn/tin-tuc1</a:t>
            </a:r>
            <a:r>
              <a:rPr lang="en-GB"/>
              <a:t>",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"format": "html"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"title": "Tin tức 1",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"content": "Nội dung tin tức bóc tách được",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</a:t>
            </a:r>
            <a:r>
              <a:rPr lang="en-GB"/>
              <a:t>intro</a:t>
            </a:r>
            <a:r>
              <a:rPr lang="en-GB"/>
              <a:t>": "</a:t>
            </a:r>
            <a:r>
              <a:rPr lang="en-GB"/>
              <a:t>Nội dung văn bản giới thiệu nếu có</a:t>
            </a:r>
            <a:r>
              <a:rPr lang="en-GB"/>
              <a:t>"</a:t>
            </a:r>
            <a:r>
              <a:rPr lang="en-GB"/>
              <a:t>}],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"other":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[{</a:t>
            </a:r>
            <a:r>
              <a:rPr lang="en-GB"/>
              <a:t>"url": "</a:t>
            </a:r>
            <a:r>
              <a:rPr lang="en-GB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https://hust.edu.vn/tin-tuc1</a:t>
            </a:r>
            <a:r>
              <a:rPr lang="en-GB"/>
              <a:t>",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"format": "docx",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"url": "</a:t>
            </a:r>
            <a:r>
              <a:rPr lang="en-GB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https://hust.edu.vn/tin-tuc1</a:t>
            </a:r>
            <a:r>
              <a:rPr lang="en-GB"/>
              <a:t>",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"content": "html"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],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"graph": [{"src":  "</a:t>
            </a:r>
            <a:r>
              <a:rPr lang="en-GB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https://hust.edu.vn/</a:t>
            </a:r>
            <a:r>
              <a:rPr lang="en-GB"/>
              <a:t>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"dest": "</a:t>
            </a:r>
            <a:r>
              <a:rPr lang="en-GB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https://hust.edu.vn/tin-tuc1</a:t>
            </a:r>
            <a:r>
              <a:rPr lang="en-GB"/>
              <a:t>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            "intro": "văn bản liên kết"]}],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Điều khiển</a:t>
            </a:r>
            <a:endParaRPr/>
          </a:p>
        </p:txBody>
      </p:sp>
      <p:sp>
        <p:nvSpPr>
          <p:cNvPr id="244" name="Google Shape;2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Lệnh thêm url: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Post: http://ip:5200/add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{"urls": ["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https://hust.edu.vn/tin-tuc1</a:t>
            </a:r>
            <a:r>
              <a:rPr lang="en-GB"/>
              <a:t>",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          </a:t>
            </a:r>
            <a:r>
              <a:rPr lang="en-GB"/>
              <a:t>"</a:t>
            </a:r>
            <a:r>
              <a:rPr lang="en-GB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https://hust.edu.vn/tin-tuc</a:t>
            </a:r>
            <a:r>
              <a:rPr lang="en-GB"/>
              <a:t>2",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            "</a:t>
            </a:r>
            <a:r>
              <a:rPr lang="en-GB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https://hust.edu.vn/tin-tuc</a:t>
            </a:r>
            <a:r>
              <a:rPr lang="en-GB"/>
              <a:t>3"]}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Tải về</a:t>
            </a:r>
            <a:endParaRPr/>
          </a:p>
        </p:txBody>
      </p:sp>
      <p:sp>
        <p:nvSpPr>
          <p:cNvPr id="250" name="Google Shape;25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Lệnh tải url về: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Post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http://ip:/load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{"url": </a:t>
            </a:r>
            <a:r>
              <a:rPr lang="en-GB"/>
              <a:t>"</a:t>
            </a:r>
            <a:r>
              <a:rPr lang="en-GB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https://hust.edu.vn/tin-tuc</a:t>
            </a:r>
            <a:r>
              <a:rPr lang="en-GB"/>
              <a:t>"}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Lệnh kiểm tra trạng thái: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Get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http://ip:/ping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{"status": "đang chờ"}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Đọc nội dung</a:t>
            </a:r>
            <a:endParaRPr/>
          </a:p>
        </p:txBody>
      </p:sp>
      <p:sp>
        <p:nvSpPr>
          <p:cNvPr id="256" name="Google Shape;25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Lệnh đọc nội dung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post: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http://ip:cổng/parse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"url": "https://hust.edu.vn/vi/news/tin-tuc-su-kien/abc-654601.html",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"format": "html",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"content_type": "text/html; charset=utf-8",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"encoding": "text",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"content": "&lt;!DOCTYPE html&gt;…"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